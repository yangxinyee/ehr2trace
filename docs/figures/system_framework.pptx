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274320"/>
            <a:ext cx="113870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 i="0">
                <a:solidFill>
                  <a:srgbClr val="1E242A"/>
                </a:solidFill>
                <a:latin typeface="Arial"/>
              </a:rPr>
              <a:t>From hospital exports to patient world models and clinical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03504"/>
            <a:ext cx="113870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464E56"/>
                </a:solidFill>
                <a:latin typeface="Arial"/>
              </a:rPr>
              <a:t>ehr2cdm supplies the audited data foundation (b). Stages c to e are requirements this paper identifies and does not implement.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7568" y="914400"/>
            <a:ext cx="1836743" cy="2148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8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27568" y="957376"/>
            <a:ext cx="1836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0" i="0">
                <a:solidFill>
                  <a:srgbClr val="8A9299"/>
                </a:solidFill>
                <a:latin typeface="Arial"/>
              </a:rPr>
              <a:t>EXTERNAL INPUT</a:t>
            </a:r>
          </a:p>
        </p:txBody>
      </p:sp>
      <p:sp>
        <p:nvSpPr>
          <p:cNvPr id="7" name="stage-a"/>
          <p:cNvSpPr/>
          <p:nvPr/>
        </p:nvSpPr>
        <p:spPr>
          <a:xfrm>
            <a:off x="402336" y="1188720"/>
            <a:ext cx="2087209" cy="37124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7784" y="1325880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464E56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30452"/>
            <a:ext cx="155685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 i="0">
                <a:solidFill>
                  <a:srgbClr val="1E242A"/>
                </a:solidFill>
                <a:latin typeface="Arial"/>
              </a:rPr>
              <a:t>Heterogeneous EHR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92224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i="0">
                <a:solidFill>
                  <a:srgbClr val="8A9299"/>
                </a:solidFill>
                <a:latin typeface="Arial"/>
              </a:rPr>
              <a:t>What a hospital actually exports</a:t>
            </a:r>
          </a:p>
        </p:txBody>
      </p:sp>
      <p:sp>
        <p:nvSpPr>
          <p:cNvPr id="11" name="rule"/>
          <p:cNvSpPr/>
          <p:nvPr/>
        </p:nvSpPr>
        <p:spPr>
          <a:xfrm>
            <a:off x="557784" y="2103120"/>
            <a:ext cx="1776313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16" name="icon-a"/>
          <p:cNvGrpSpPr/>
          <p:nvPr/>
        </p:nvGrpSpPr>
        <p:grpSpPr>
          <a:xfrm>
            <a:off x="1162476" y="2249424"/>
            <a:ext cx="566928" cy="566928"/>
            <a:chOff x="1162476" y="2249424"/>
            <a:chExt cx="566928" cy="566928"/>
          </a:xfrm>
        </p:grpSpPr>
        <p:sp>
          <p:nvSpPr>
            <p:cNvPr id="12" name="Rectangle 11"/>
            <p:cNvSpPr/>
            <p:nvPr/>
          </p:nvSpPr>
          <p:spPr>
            <a:xfrm>
              <a:off x="1162476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360" y="140"/>
                  </a:moveTo>
                  <a:lnTo>
                    <a:pt x="750" y="140"/>
                  </a:lnTo>
                  <a:lnTo>
                    <a:pt x="910" y="300"/>
                  </a:lnTo>
                  <a:lnTo>
                    <a:pt x="910" y="820"/>
                  </a:lnTo>
                  <a:lnTo>
                    <a:pt x="360" y="820"/>
                  </a:lnTo>
                  <a:close/>
                  <a:moveTo>
                    <a:pt x="750" y="140"/>
                  </a:moveTo>
                  <a:lnTo>
                    <a:pt x="750" y="300"/>
                  </a:lnTo>
                  <a:lnTo>
                    <a:pt x="910" y="300"/>
                  </a:lnTo>
                </a:path>
              </a:pathLst>
            </a:custGeom>
            <a:noFill/>
            <a:ln w="1778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13" name="Rectangle 12"/>
            <p:cNvSpPr/>
            <p:nvPr/>
          </p:nvSpPr>
          <p:spPr>
            <a:xfrm>
              <a:off x="1162476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230" y="210"/>
                  </a:moveTo>
                  <a:lnTo>
                    <a:pt x="620" y="210"/>
                  </a:lnTo>
                  <a:lnTo>
                    <a:pt x="780" y="370"/>
                  </a:lnTo>
                  <a:lnTo>
                    <a:pt x="780" y="890"/>
                  </a:lnTo>
                  <a:lnTo>
                    <a:pt x="230" y="890"/>
                  </a:lnTo>
                  <a:close/>
                  <a:moveTo>
                    <a:pt x="620" y="210"/>
                  </a:moveTo>
                  <a:lnTo>
                    <a:pt x="620" y="370"/>
                  </a:lnTo>
                  <a:lnTo>
                    <a:pt x="780" y="370"/>
                  </a:lnTo>
                </a:path>
              </a:pathLst>
            </a:custGeom>
            <a:noFill/>
            <a:ln w="1778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14" name="Rectangle 13"/>
            <p:cNvSpPr/>
            <p:nvPr/>
          </p:nvSpPr>
          <p:spPr>
            <a:xfrm>
              <a:off x="1162476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80" y="280"/>
                  </a:moveTo>
                  <a:lnTo>
                    <a:pt x="470" y="280"/>
                  </a:lnTo>
                  <a:lnTo>
                    <a:pt x="630" y="440"/>
                  </a:lnTo>
                  <a:lnTo>
                    <a:pt x="630" y="960"/>
                  </a:lnTo>
                  <a:lnTo>
                    <a:pt x="80" y="960"/>
                  </a:lnTo>
                  <a:close/>
                  <a:moveTo>
                    <a:pt x="470" y="280"/>
                  </a:moveTo>
                  <a:lnTo>
                    <a:pt x="470" y="440"/>
                  </a:lnTo>
                  <a:lnTo>
                    <a:pt x="630" y="440"/>
                  </a:lnTo>
                </a:path>
              </a:pathLst>
            </a:custGeom>
            <a:noFill/>
            <a:ln w="2286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15" name="Rectangle 14"/>
            <p:cNvSpPr/>
            <p:nvPr/>
          </p:nvSpPr>
          <p:spPr>
            <a:xfrm>
              <a:off x="1162476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155" y="700"/>
                  </a:moveTo>
                  <a:lnTo>
                    <a:pt x="470" y="700"/>
                  </a:lnTo>
                  <a:moveTo>
                    <a:pt x="155" y="800"/>
                  </a:moveTo>
                  <a:lnTo>
                    <a:pt x="400" y="800"/>
                  </a:lnTo>
                </a:path>
              </a:pathLst>
            </a:custGeom>
            <a:noFill/>
            <a:ln w="1778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</p:grpSp>
      <p:sp>
        <p:nvSpPr>
          <p:cNvPr id="17" name="TextBox 16"/>
          <p:cNvSpPr txBox="1"/>
          <p:nvPr/>
        </p:nvSpPr>
        <p:spPr>
          <a:xfrm>
            <a:off x="557784" y="2944368"/>
            <a:ext cx="177631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464E5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CSV, Excel and Parquet extracts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464E5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Orders, administrations, labs and notes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464E5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Registry and imaging cohorts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464E5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Site-local schemas, codes and time zones</a:t>
            </a:r>
          </a:p>
        </p:txBody>
      </p:sp>
      <p:sp>
        <p:nvSpPr>
          <p:cNvPr id="18" name="flow"/>
          <p:cNvSpPr/>
          <p:nvPr/>
        </p:nvSpPr>
        <p:spPr>
          <a:xfrm rot="5400000">
            <a:off x="2535265" y="2359152"/>
            <a:ext cx="146304" cy="17373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852521" y="914400"/>
            <a:ext cx="1836743" cy="214884"/>
          </a:xfrm>
          <a:prstGeom prst="roundRect">
            <a:avLst>
              <a:gd name="adj" fmla="val 50000"/>
            </a:avLst>
          </a:prstGeom>
          <a:solidFill>
            <a:srgbClr val="0D6E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852521" y="957376"/>
            <a:ext cx="1836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ehr2cdm  —  THIS WORK</a:t>
            </a:r>
          </a:p>
        </p:txBody>
      </p:sp>
      <p:sp>
        <p:nvSpPr>
          <p:cNvPr id="21" name="stage-b"/>
          <p:cNvSpPr/>
          <p:nvPr/>
        </p:nvSpPr>
        <p:spPr>
          <a:xfrm>
            <a:off x="2727289" y="1188720"/>
            <a:ext cx="2087209" cy="3712463"/>
          </a:xfrm>
          <a:prstGeom prst="roundRect">
            <a:avLst>
              <a:gd name="adj" fmla="val 3500"/>
            </a:avLst>
          </a:prstGeom>
          <a:solidFill>
            <a:srgbClr val="F3F8F7"/>
          </a:solidFill>
          <a:ln w="24130">
            <a:solidFill>
              <a:srgbClr val="0D6E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82737" y="1325880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0D6E66"/>
                </a:solidFill>
                <a:latin typeface="Arial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2193" y="1330452"/>
            <a:ext cx="155685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 i="0">
                <a:solidFill>
                  <a:srgbClr val="1E242A"/>
                </a:solidFill>
                <a:latin typeface="Arial"/>
              </a:rPr>
              <a:t>Auditable data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2737" y="1792224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i="0">
                <a:solidFill>
                  <a:srgbClr val="8A9299"/>
                </a:solidFill>
                <a:latin typeface="Arial"/>
              </a:rPr>
              <a:t>Source-linked conversion under an executable contract</a:t>
            </a:r>
          </a:p>
        </p:txBody>
      </p:sp>
      <p:sp>
        <p:nvSpPr>
          <p:cNvPr id="25" name="rule"/>
          <p:cNvSpPr/>
          <p:nvPr/>
        </p:nvSpPr>
        <p:spPr>
          <a:xfrm>
            <a:off x="2882737" y="2103120"/>
            <a:ext cx="1776313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28" name="icon-b"/>
          <p:cNvGrpSpPr/>
          <p:nvPr/>
        </p:nvGrpSpPr>
        <p:grpSpPr>
          <a:xfrm>
            <a:off x="3487429" y="2249424"/>
            <a:ext cx="566928" cy="566928"/>
            <a:chOff x="3487429" y="2249424"/>
            <a:chExt cx="566928" cy="566928"/>
          </a:xfrm>
        </p:grpSpPr>
        <p:sp>
          <p:nvSpPr>
            <p:cNvPr id="26" name="Rectangle 25"/>
            <p:cNvSpPr/>
            <p:nvPr/>
          </p:nvSpPr>
          <p:spPr>
            <a:xfrm>
              <a:off x="3487429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500" y="70"/>
                  </a:moveTo>
                  <a:lnTo>
                    <a:pt x="890" y="215"/>
                  </a:lnTo>
                  <a:lnTo>
                    <a:pt x="890" y="530"/>
                  </a:lnTo>
                  <a:cubicBezTo>
                    <a:pt x="890" y="760"/>
                    <a:pt x="715" y="905"/>
                    <a:pt x="500" y="962"/>
                  </a:cubicBezTo>
                  <a:cubicBezTo>
                    <a:pt x="285" y="905"/>
                    <a:pt x="110" y="760"/>
                    <a:pt x="110" y="530"/>
                  </a:cubicBezTo>
                  <a:lnTo>
                    <a:pt x="110" y="215"/>
                  </a:lnTo>
                  <a:close/>
                </a:path>
              </a:pathLst>
            </a:custGeom>
            <a:noFill/>
            <a:ln w="24130">
              <a:solidFill>
                <a:srgbClr val="0D6E6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3487429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318" y="508"/>
                  </a:moveTo>
                  <a:lnTo>
                    <a:pt x="452" y="642"/>
                  </a:lnTo>
                  <a:lnTo>
                    <a:pt x="702" y="372"/>
                  </a:lnTo>
                </a:path>
              </a:pathLst>
            </a:custGeom>
            <a:noFill/>
            <a:ln w="30480">
              <a:solidFill>
                <a:srgbClr val="0D6E66"/>
              </a:solidFill>
            </a:ln>
            <a:effectLst/>
          </p:spPr>
          <p:txBody>
            <a:bodyPr rtlCol="0" anchor="ctr"/>
            <a:lstStyle/>
            <a:p/>
          </p:txBody>
        </p:sp>
      </p:grpSp>
      <p:sp>
        <p:nvSpPr>
          <p:cNvPr id="29" name="TextBox 28"/>
          <p:cNvSpPr txBox="1"/>
          <p:nvPr/>
        </p:nvSpPr>
        <p:spPr>
          <a:xfrm>
            <a:off x="2882737" y="2944368"/>
            <a:ext cx="177631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0D6E6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Canonical events with row-level lineage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0D6E6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Occurrence time and availability time kept apart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0D6E6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OMOP CDM 5.4 and MEDS exports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0D6E6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36 executable checks across stored artifacts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0D6E66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Quarantine, review records, trace to source row</a:t>
            </a:r>
          </a:p>
        </p:txBody>
      </p:sp>
      <p:sp>
        <p:nvSpPr>
          <p:cNvPr id="30" name="flow"/>
          <p:cNvSpPr/>
          <p:nvPr/>
        </p:nvSpPr>
        <p:spPr>
          <a:xfrm rot="5400000">
            <a:off x="4860218" y="2359152"/>
            <a:ext cx="146304" cy="17373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177474" y="914400"/>
            <a:ext cx="1836743" cy="2148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77474" y="957376"/>
            <a:ext cx="1836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0" i="0">
                <a:solidFill>
                  <a:srgbClr val="BF5720"/>
                </a:solidFill>
                <a:latin typeface="Arial"/>
              </a:rPr>
              <a:t>NOT IMPLEMENTED HERE</a:t>
            </a:r>
          </a:p>
        </p:txBody>
      </p:sp>
      <p:sp>
        <p:nvSpPr>
          <p:cNvPr id="33" name="stage-c"/>
          <p:cNvSpPr/>
          <p:nvPr/>
        </p:nvSpPr>
        <p:spPr>
          <a:xfrm>
            <a:off x="5052242" y="1188720"/>
            <a:ext cx="2087209" cy="37124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07690" y="1325880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BF5720"/>
                </a:solidFill>
                <a:latin typeface="Arial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7146" y="1330452"/>
            <a:ext cx="155685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 i="0">
                <a:solidFill>
                  <a:srgbClr val="1E242A"/>
                </a:solidFill>
                <a:latin typeface="Arial"/>
              </a:rPr>
              <a:t>Decision-time trajectory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7690" y="1792224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i="0">
                <a:solidFill>
                  <a:srgbClr val="8A9299"/>
                </a:solidFill>
                <a:latin typeface="Arial"/>
              </a:rPr>
              <a:t>Turning an event stream into learnable transitions</a:t>
            </a:r>
          </a:p>
        </p:txBody>
      </p:sp>
      <p:sp>
        <p:nvSpPr>
          <p:cNvPr id="37" name="rule"/>
          <p:cNvSpPr/>
          <p:nvPr/>
        </p:nvSpPr>
        <p:spPr>
          <a:xfrm>
            <a:off x="5207690" y="2103120"/>
            <a:ext cx="1776313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43" name="icon-c"/>
          <p:cNvGrpSpPr/>
          <p:nvPr/>
        </p:nvGrpSpPr>
        <p:grpSpPr>
          <a:xfrm>
            <a:off x="5812382" y="2249424"/>
            <a:ext cx="566928" cy="566928"/>
            <a:chOff x="5812382" y="2249424"/>
            <a:chExt cx="566928" cy="566928"/>
          </a:xfrm>
        </p:grpSpPr>
        <p:sp>
          <p:nvSpPr>
            <p:cNvPr id="38" name="Rectangle 37"/>
            <p:cNvSpPr/>
            <p:nvPr/>
          </p:nvSpPr>
          <p:spPr>
            <a:xfrm>
              <a:off x="5812382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40" y="620"/>
                  </a:moveTo>
                  <a:lnTo>
                    <a:pt x="570" y="620"/>
                  </a:lnTo>
                </a:path>
              </a:pathLst>
            </a:custGeom>
            <a:noFill/>
            <a:ln w="2540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39" name="Rectangle 38"/>
            <p:cNvSpPr/>
            <p:nvPr/>
          </p:nvSpPr>
          <p:spPr>
            <a:xfrm>
              <a:off x="5812382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32" y="620"/>
                  </a:moveTo>
                  <a:cubicBezTo>
                    <a:pt x="32" y="587"/>
                    <a:pt x="57" y="562"/>
                    <a:pt x="90" y="562"/>
                  </a:cubicBezTo>
                  <a:cubicBezTo>
                    <a:pt x="122" y="562"/>
                    <a:pt x="148" y="587"/>
                    <a:pt x="148" y="620"/>
                  </a:cubicBezTo>
                  <a:cubicBezTo>
                    <a:pt x="148" y="652"/>
                    <a:pt x="122" y="678"/>
                    <a:pt x="90" y="678"/>
                  </a:cubicBezTo>
                  <a:cubicBezTo>
                    <a:pt x="57" y="678"/>
                    <a:pt x="32" y="652"/>
                    <a:pt x="32" y="620"/>
                  </a:cubicBezTo>
                  <a:close/>
                  <a:moveTo>
                    <a:pt x="232" y="620"/>
                  </a:moveTo>
                  <a:cubicBezTo>
                    <a:pt x="232" y="587"/>
                    <a:pt x="257" y="562"/>
                    <a:pt x="290" y="562"/>
                  </a:cubicBezTo>
                  <a:cubicBezTo>
                    <a:pt x="322" y="562"/>
                    <a:pt x="348" y="587"/>
                    <a:pt x="348" y="620"/>
                  </a:cubicBezTo>
                  <a:cubicBezTo>
                    <a:pt x="348" y="652"/>
                    <a:pt x="322" y="678"/>
                    <a:pt x="290" y="678"/>
                  </a:cubicBezTo>
                  <a:cubicBezTo>
                    <a:pt x="257" y="678"/>
                    <a:pt x="232" y="652"/>
                    <a:pt x="232" y="620"/>
                  </a:cubicBezTo>
                  <a:close/>
                  <a:moveTo>
                    <a:pt x="432" y="620"/>
                  </a:moveTo>
                  <a:cubicBezTo>
                    <a:pt x="432" y="587"/>
                    <a:pt x="457" y="562"/>
                    <a:pt x="490" y="562"/>
                  </a:cubicBezTo>
                  <a:cubicBezTo>
                    <a:pt x="522" y="562"/>
                    <a:pt x="548" y="587"/>
                    <a:pt x="548" y="620"/>
                  </a:cubicBezTo>
                  <a:cubicBezTo>
                    <a:pt x="548" y="652"/>
                    <a:pt x="522" y="678"/>
                    <a:pt x="490" y="678"/>
                  </a:cubicBezTo>
                  <a:cubicBezTo>
                    <a:pt x="457" y="678"/>
                    <a:pt x="432" y="652"/>
                    <a:pt x="432" y="620"/>
                  </a:cubicBezTo>
                  <a:close/>
                </a:path>
              </a:pathLst>
            </a:custGeom>
            <a:solidFill>
              <a:srgbClr val="464E5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40" name="Rectangle 39"/>
            <p:cNvSpPr/>
            <p:nvPr/>
          </p:nvSpPr>
          <p:spPr>
            <a:xfrm>
              <a:off x="5812382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640" y="150"/>
                  </a:moveTo>
                  <a:lnTo>
                    <a:pt x="640" y="260"/>
                  </a:lnTo>
                  <a:moveTo>
                    <a:pt x="640" y="330"/>
                  </a:moveTo>
                  <a:lnTo>
                    <a:pt x="640" y="440"/>
                  </a:lnTo>
                  <a:moveTo>
                    <a:pt x="640" y="510"/>
                  </a:moveTo>
                  <a:lnTo>
                    <a:pt x="640" y="620"/>
                  </a:lnTo>
                  <a:moveTo>
                    <a:pt x="640" y="690"/>
                  </a:moveTo>
                  <a:lnTo>
                    <a:pt x="640" y="800"/>
                  </a:lnTo>
                  <a:moveTo>
                    <a:pt x="640" y="870"/>
                  </a:moveTo>
                  <a:lnTo>
                    <a:pt x="640" y="980"/>
                  </a:lnTo>
                </a:path>
              </a:pathLst>
            </a:custGeom>
            <a:noFill/>
            <a:ln w="22860">
              <a:solidFill>
                <a:srgbClr val="8A9299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41" name="Rectangle 40"/>
            <p:cNvSpPr/>
            <p:nvPr/>
          </p:nvSpPr>
          <p:spPr>
            <a:xfrm>
              <a:off x="5812382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665" y="620"/>
                  </a:moveTo>
                  <a:lnTo>
                    <a:pt x="810" y="435"/>
                  </a:lnTo>
                  <a:moveTo>
                    <a:pt x="665" y="620"/>
                  </a:moveTo>
                  <a:lnTo>
                    <a:pt x="810" y="800"/>
                  </a:lnTo>
                </a:path>
              </a:pathLst>
            </a:custGeom>
            <a:noFill/>
            <a:ln w="2286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42" name="Rectangle 41"/>
            <p:cNvSpPr/>
            <p:nvPr/>
          </p:nvSpPr>
          <p:spPr>
            <a:xfrm>
              <a:off x="5812382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802" y="370"/>
                  </a:moveTo>
                  <a:cubicBezTo>
                    <a:pt x="802" y="326"/>
                    <a:pt x="836" y="292"/>
                    <a:pt x="880" y="292"/>
                  </a:cubicBezTo>
                  <a:cubicBezTo>
                    <a:pt x="923" y="292"/>
                    <a:pt x="958" y="326"/>
                    <a:pt x="958" y="370"/>
                  </a:cubicBezTo>
                  <a:cubicBezTo>
                    <a:pt x="958" y="413"/>
                    <a:pt x="923" y="448"/>
                    <a:pt x="880" y="448"/>
                  </a:cubicBezTo>
                  <a:cubicBezTo>
                    <a:pt x="836" y="448"/>
                    <a:pt x="802" y="413"/>
                    <a:pt x="802" y="370"/>
                  </a:cubicBezTo>
                  <a:close/>
                  <a:moveTo>
                    <a:pt x="802" y="860"/>
                  </a:moveTo>
                  <a:cubicBezTo>
                    <a:pt x="802" y="816"/>
                    <a:pt x="836" y="782"/>
                    <a:pt x="880" y="782"/>
                  </a:cubicBezTo>
                  <a:cubicBezTo>
                    <a:pt x="923" y="782"/>
                    <a:pt x="958" y="816"/>
                    <a:pt x="958" y="860"/>
                  </a:cubicBezTo>
                  <a:cubicBezTo>
                    <a:pt x="958" y="903"/>
                    <a:pt x="923" y="938"/>
                    <a:pt x="880" y="938"/>
                  </a:cubicBezTo>
                  <a:cubicBezTo>
                    <a:pt x="836" y="938"/>
                    <a:pt x="802" y="903"/>
                    <a:pt x="802" y="860"/>
                  </a:cubicBezTo>
                  <a:close/>
                </a:path>
              </a:pathLst>
            </a:custGeom>
            <a:noFill/>
            <a:ln w="2286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</p:grpSp>
      <p:sp>
        <p:nvSpPr>
          <p:cNvPr id="44" name="TextBox 43"/>
          <p:cNvSpPr txBox="1"/>
          <p:nvPr/>
        </p:nvSpPr>
        <p:spPr>
          <a:xfrm>
            <a:off x="5207690" y="2944368"/>
            <a:ext cx="177631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History H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 restricted to what is known by t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Transitions (o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a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Δt, o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t+1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r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d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c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)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Episode boundaries and missingness masks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Action eligibility and reward versioning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Cohort and task definitions</a:t>
            </a:r>
          </a:p>
        </p:txBody>
      </p:sp>
      <p:sp>
        <p:nvSpPr>
          <p:cNvPr id="45" name="flow"/>
          <p:cNvSpPr/>
          <p:nvPr/>
        </p:nvSpPr>
        <p:spPr>
          <a:xfrm rot="5400000">
            <a:off x="7185171" y="2359152"/>
            <a:ext cx="146304" cy="17373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502427" y="914400"/>
            <a:ext cx="1836743" cy="2148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502427" y="957376"/>
            <a:ext cx="1836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0" i="0">
                <a:solidFill>
                  <a:srgbClr val="BF5720"/>
                </a:solidFill>
                <a:latin typeface="Arial"/>
              </a:rPr>
              <a:t>NOT IMPLEMENTED HERE</a:t>
            </a:r>
          </a:p>
        </p:txBody>
      </p:sp>
      <p:sp>
        <p:nvSpPr>
          <p:cNvPr id="48" name="stage-d"/>
          <p:cNvSpPr/>
          <p:nvPr/>
        </p:nvSpPr>
        <p:spPr>
          <a:xfrm>
            <a:off x="7377195" y="1188720"/>
            <a:ext cx="2087209" cy="37124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532643" y="1325880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BF5720"/>
                </a:solidFill>
                <a:latin typeface="Arial"/>
              </a:rPr>
              <a:t>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2099" y="1330452"/>
            <a:ext cx="155685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 i="0">
                <a:solidFill>
                  <a:srgbClr val="1E242A"/>
                </a:solidFill>
                <a:latin typeface="Arial"/>
              </a:rPr>
              <a:t>World models and agent policies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2643" y="1792224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i="0">
                <a:solidFill>
                  <a:srgbClr val="8A9299"/>
                </a:solidFill>
                <a:latin typeface="Arial"/>
              </a:rPr>
              <a:t>What the trajectories are for</a:t>
            </a:r>
          </a:p>
        </p:txBody>
      </p:sp>
      <p:sp>
        <p:nvSpPr>
          <p:cNvPr id="52" name="rule"/>
          <p:cNvSpPr/>
          <p:nvPr/>
        </p:nvSpPr>
        <p:spPr>
          <a:xfrm>
            <a:off x="7532643" y="2103120"/>
            <a:ext cx="1776313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55" name="icon-world-model"/>
          <p:cNvGrpSpPr/>
          <p:nvPr/>
        </p:nvGrpSpPr>
        <p:grpSpPr>
          <a:xfrm>
            <a:off x="7624083" y="2249424"/>
            <a:ext cx="566928" cy="566928"/>
            <a:chOff x="7624083" y="2249424"/>
            <a:chExt cx="566928" cy="566928"/>
          </a:xfrm>
        </p:grpSpPr>
        <p:sp>
          <p:nvSpPr>
            <p:cNvPr id="53" name="Rectangle 52"/>
            <p:cNvSpPr/>
            <p:nvPr/>
          </p:nvSpPr>
          <p:spPr>
            <a:xfrm>
              <a:off x="7624083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160" y="280"/>
                  </a:moveTo>
                  <a:lnTo>
                    <a:pt x="500" y="200"/>
                  </a:lnTo>
                  <a:moveTo>
                    <a:pt x="160" y="280"/>
                  </a:moveTo>
                  <a:lnTo>
                    <a:pt x="500" y="470"/>
                  </a:lnTo>
                  <a:moveTo>
                    <a:pt x="160" y="520"/>
                  </a:moveTo>
                  <a:lnTo>
                    <a:pt x="500" y="200"/>
                  </a:lnTo>
                  <a:moveTo>
                    <a:pt x="160" y="520"/>
                  </a:moveTo>
                  <a:lnTo>
                    <a:pt x="500" y="740"/>
                  </a:lnTo>
                  <a:moveTo>
                    <a:pt x="160" y="760"/>
                  </a:moveTo>
                  <a:lnTo>
                    <a:pt x="500" y="470"/>
                  </a:lnTo>
                  <a:moveTo>
                    <a:pt x="160" y="760"/>
                  </a:moveTo>
                  <a:lnTo>
                    <a:pt x="500" y="740"/>
                  </a:lnTo>
                  <a:moveTo>
                    <a:pt x="500" y="200"/>
                  </a:moveTo>
                  <a:lnTo>
                    <a:pt x="850" y="330"/>
                  </a:lnTo>
                  <a:moveTo>
                    <a:pt x="500" y="470"/>
                  </a:moveTo>
                  <a:lnTo>
                    <a:pt x="850" y="330"/>
                  </a:lnTo>
                  <a:moveTo>
                    <a:pt x="500" y="470"/>
                  </a:moveTo>
                  <a:lnTo>
                    <a:pt x="850" y="640"/>
                  </a:lnTo>
                  <a:moveTo>
                    <a:pt x="500" y="740"/>
                  </a:moveTo>
                  <a:lnTo>
                    <a:pt x="850" y="640"/>
                  </a:lnTo>
                </a:path>
              </a:pathLst>
            </a:custGeom>
            <a:noFill/>
            <a:ln w="15240">
              <a:solidFill>
                <a:srgbClr val="8A9299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54" name="Rectangle 53"/>
            <p:cNvSpPr/>
            <p:nvPr/>
          </p:nvSpPr>
          <p:spPr>
            <a:xfrm>
              <a:off x="7624083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98" y="280"/>
                  </a:moveTo>
                  <a:cubicBezTo>
                    <a:pt x="98" y="245"/>
                    <a:pt x="125" y="218"/>
                    <a:pt x="160" y="218"/>
                  </a:cubicBezTo>
                  <a:cubicBezTo>
                    <a:pt x="194" y="218"/>
                    <a:pt x="222" y="245"/>
                    <a:pt x="222" y="280"/>
                  </a:cubicBezTo>
                  <a:cubicBezTo>
                    <a:pt x="222" y="314"/>
                    <a:pt x="194" y="342"/>
                    <a:pt x="160" y="342"/>
                  </a:cubicBezTo>
                  <a:cubicBezTo>
                    <a:pt x="125" y="342"/>
                    <a:pt x="98" y="314"/>
                    <a:pt x="98" y="280"/>
                  </a:cubicBezTo>
                  <a:close/>
                  <a:moveTo>
                    <a:pt x="98" y="520"/>
                  </a:moveTo>
                  <a:cubicBezTo>
                    <a:pt x="98" y="485"/>
                    <a:pt x="125" y="458"/>
                    <a:pt x="160" y="458"/>
                  </a:cubicBezTo>
                  <a:cubicBezTo>
                    <a:pt x="194" y="458"/>
                    <a:pt x="222" y="485"/>
                    <a:pt x="222" y="520"/>
                  </a:cubicBezTo>
                  <a:cubicBezTo>
                    <a:pt x="222" y="554"/>
                    <a:pt x="194" y="582"/>
                    <a:pt x="160" y="582"/>
                  </a:cubicBezTo>
                  <a:cubicBezTo>
                    <a:pt x="125" y="582"/>
                    <a:pt x="98" y="554"/>
                    <a:pt x="98" y="520"/>
                  </a:cubicBezTo>
                  <a:close/>
                  <a:moveTo>
                    <a:pt x="98" y="760"/>
                  </a:moveTo>
                  <a:cubicBezTo>
                    <a:pt x="98" y="725"/>
                    <a:pt x="125" y="698"/>
                    <a:pt x="160" y="698"/>
                  </a:cubicBezTo>
                  <a:cubicBezTo>
                    <a:pt x="194" y="698"/>
                    <a:pt x="222" y="725"/>
                    <a:pt x="222" y="760"/>
                  </a:cubicBezTo>
                  <a:cubicBezTo>
                    <a:pt x="222" y="794"/>
                    <a:pt x="194" y="822"/>
                    <a:pt x="160" y="822"/>
                  </a:cubicBezTo>
                  <a:cubicBezTo>
                    <a:pt x="125" y="822"/>
                    <a:pt x="98" y="794"/>
                    <a:pt x="98" y="760"/>
                  </a:cubicBezTo>
                  <a:close/>
                  <a:moveTo>
                    <a:pt x="438" y="200"/>
                  </a:moveTo>
                  <a:cubicBezTo>
                    <a:pt x="438" y="165"/>
                    <a:pt x="465" y="138"/>
                    <a:pt x="500" y="138"/>
                  </a:cubicBezTo>
                  <a:cubicBezTo>
                    <a:pt x="534" y="138"/>
                    <a:pt x="562" y="165"/>
                    <a:pt x="562" y="200"/>
                  </a:cubicBezTo>
                  <a:cubicBezTo>
                    <a:pt x="562" y="234"/>
                    <a:pt x="534" y="262"/>
                    <a:pt x="500" y="262"/>
                  </a:cubicBezTo>
                  <a:cubicBezTo>
                    <a:pt x="465" y="262"/>
                    <a:pt x="438" y="234"/>
                    <a:pt x="438" y="200"/>
                  </a:cubicBezTo>
                  <a:close/>
                  <a:moveTo>
                    <a:pt x="438" y="470"/>
                  </a:moveTo>
                  <a:cubicBezTo>
                    <a:pt x="438" y="435"/>
                    <a:pt x="465" y="408"/>
                    <a:pt x="500" y="408"/>
                  </a:cubicBezTo>
                  <a:cubicBezTo>
                    <a:pt x="534" y="408"/>
                    <a:pt x="562" y="435"/>
                    <a:pt x="562" y="470"/>
                  </a:cubicBezTo>
                  <a:cubicBezTo>
                    <a:pt x="562" y="504"/>
                    <a:pt x="534" y="532"/>
                    <a:pt x="500" y="532"/>
                  </a:cubicBezTo>
                  <a:cubicBezTo>
                    <a:pt x="465" y="532"/>
                    <a:pt x="438" y="504"/>
                    <a:pt x="438" y="470"/>
                  </a:cubicBezTo>
                  <a:close/>
                  <a:moveTo>
                    <a:pt x="438" y="740"/>
                  </a:moveTo>
                  <a:cubicBezTo>
                    <a:pt x="438" y="705"/>
                    <a:pt x="465" y="678"/>
                    <a:pt x="500" y="678"/>
                  </a:cubicBezTo>
                  <a:cubicBezTo>
                    <a:pt x="534" y="678"/>
                    <a:pt x="562" y="705"/>
                    <a:pt x="562" y="740"/>
                  </a:cubicBezTo>
                  <a:cubicBezTo>
                    <a:pt x="562" y="774"/>
                    <a:pt x="534" y="802"/>
                    <a:pt x="500" y="802"/>
                  </a:cubicBezTo>
                  <a:cubicBezTo>
                    <a:pt x="465" y="802"/>
                    <a:pt x="438" y="774"/>
                    <a:pt x="438" y="740"/>
                  </a:cubicBezTo>
                  <a:close/>
                  <a:moveTo>
                    <a:pt x="788" y="330"/>
                  </a:moveTo>
                  <a:cubicBezTo>
                    <a:pt x="788" y="295"/>
                    <a:pt x="815" y="268"/>
                    <a:pt x="850" y="268"/>
                  </a:cubicBezTo>
                  <a:cubicBezTo>
                    <a:pt x="884" y="268"/>
                    <a:pt x="912" y="295"/>
                    <a:pt x="912" y="330"/>
                  </a:cubicBezTo>
                  <a:cubicBezTo>
                    <a:pt x="912" y="364"/>
                    <a:pt x="884" y="392"/>
                    <a:pt x="850" y="392"/>
                  </a:cubicBezTo>
                  <a:cubicBezTo>
                    <a:pt x="815" y="392"/>
                    <a:pt x="788" y="364"/>
                    <a:pt x="788" y="330"/>
                  </a:cubicBezTo>
                  <a:close/>
                  <a:moveTo>
                    <a:pt x="788" y="640"/>
                  </a:moveTo>
                  <a:cubicBezTo>
                    <a:pt x="788" y="605"/>
                    <a:pt x="815" y="578"/>
                    <a:pt x="850" y="578"/>
                  </a:cubicBezTo>
                  <a:cubicBezTo>
                    <a:pt x="884" y="578"/>
                    <a:pt x="912" y="605"/>
                    <a:pt x="912" y="640"/>
                  </a:cubicBezTo>
                  <a:cubicBezTo>
                    <a:pt x="912" y="674"/>
                    <a:pt x="884" y="702"/>
                    <a:pt x="850" y="702"/>
                  </a:cubicBezTo>
                  <a:cubicBezTo>
                    <a:pt x="815" y="702"/>
                    <a:pt x="788" y="674"/>
                    <a:pt x="788" y="640"/>
                  </a:cubicBezTo>
                  <a:close/>
                </a:path>
              </a:pathLst>
            </a:custGeom>
            <a:solidFill>
              <a:srgbClr val="464E5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</p:grpSp>
      <p:grpSp>
        <p:nvGrpSpPr>
          <p:cNvPr id="61" name="icon-agent"/>
          <p:cNvGrpSpPr/>
          <p:nvPr/>
        </p:nvGrpSpPr>
        <p:grpSpPr>
          <a:xfrm>
            <a:off x="8650588" y="2249424"/>
            <a:ext cx="566928" cy="566928"/>
            <a:chOff x="8650588" y="2249424"/>
            <a:chExt cx="566928" cy="566928"/>
          </a:xfrm>
        </p:grpSpPr>
        <p:sp>
          <p:nvSpPr>
            <p:cNvPr id="56" name="Rectangle 55"/>
            <p:cNvSpPr/>
            <p:nvPr/>
          </p:nvSpPr>
          <p:spPr>
            <a:xfrm>
              <a:off x="86505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500" y="120"/>
                  </a:moveTo>
                  <a:lnTo>
                    <a:pt x="500" y="285"/>
                  </a:lnTo>
                </a:path>
              </a:pathLst>
            </a:custGeom>
            <a:noFill/>
            <a:ln w="2159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57" name="Rectangle 56"/>
            <p:cNvSpPr/>
            <p:nvPr/>
          </p:nvSpPr>
          <p:spPr>
            <a:xfrm>
              <a:off x="86505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448" y="96"/>
                  </a:moveTo>
                  <a:cubicBezTo>
                    <a:pt x="448" y="67"/>
                    <a:pt x="471" y="44"/>
                    <a:pt x="500" y="44"/>
                  </a:cubicBezTo>
                  <a:cubicBezTo>
                    <a:pt x="528" y="44"/>
                    <a:pt x="552" y="67"/>
                    <a:pt x="552" y="96"/>
                  </a:cubicBezTo>
                  <a:cubicBezTo>
                    <a:pt x="552" y="124"/>
                    <a:pt x="528" y="148"/>
                    <a:pt x="500" y="148"/>
                  </a:cubicBezTo>
                  <a:cubicBezTo>
                    <a:pt x="471" y="148"/>
                    <a:pt x="448" y="124"/>
                    <a:pt x="448" y="96"/>
                  </a:cubicBezTo>
                  <a:close/>
                </a:path>
              </a:pathLst>
            </a:custGeom>
            <a:solidFill>
              <a:srgbClr val="464E5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58" name="Rectangle 57"/>
            <p:cNvSpPr/>
            <p:nvPr/>
          </p:nvSpPr>
          <p:spPr>
            <a:xfrm>
              <a:off x="86505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265" y="285"/>
                  </a:moveTo>
                  <a:lnTo>
                    <a:pt x="735" y="285"/>
                  </a:lnTo>
                  <a:cubicBezTo>
                    <a:pt x="790" y="285"/>
                    <a:pt x="830" y="325"/>
                    <a:pt x="830" y="380"/>
                  </a:cubicBezTo>
                  <a:lnTo>
                    <a:pt x="830" y="700"/>
                  </a:lnTo>
                  <a:cubicBezTo>
                    <a:pt x="830" y="755"/>
                    <a:pt x="790" y="795"/>
                    <a:pt x="735" y="795"/>
                  </a:cubicBezTo>
                  <a:lnTo>
                    <a:pt x="265" y="795"/>
                  </a:lnTo>
                  <a:cubicBezTo>
                    <a:pt x="210" y="795"/>
                    <a:pt x="170" y="755"/>
                    <a:pt x="170" y="700"/>
                  </a:cubicBezTo>
                  <a:lnTo>
                    <a:pt x="170" y="380"/>
                  </a:lnTo>
                  <a:cubicBezTo>
                    <a:pt x="170" y="325"/>
                    <a:pt x="210" y="285"/>
                    <a:pt x="265" y="285"/>
                  </a:cubicBezTo>
                  <a:close/>
                </a:path>
              </a:pathLst>
            </a:custGeom>
            <a:noFill/>
            <a:ln w="2286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59" name="Rectangle 58"/>
            <p:cNvSpPr/>
            <p:nvPr/>
          </p:nvSpPr>
          <p:spPr>
            <a:xfrm>
              <a:off x="86505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324" y="490"/>
                  </a:moveTo>
                  <a:cubicBezTo>
                    <a:pt x="324" y="460"/>
                    <a:pt x="348" y="436"/>
                    <a:pt x="378" y="436"/>
                  </a:cubicBezTo>
                  <a:cubicBezTo>
                    <a:pt x="407" y="436"/>
                    <a:pt x="432" y="460"/>
                    <a:pt x="432" y="490"/>
                  </a:cubicBezTo>
                  <a:cubicBezTo>
                    <a:pt x="432" y="519"/>
                    <a:pt x="407" y="544"/>
                    <a:pt x="378" y="544"/>
                  </a:cubicBezTo>
                  <a:cubicBezTo>
                    <a:pt x="348" y="544"/>
                    <a:pt x="324" y="519"/>
                    <a:pt x="324" y="490"/>
                  </a:cubicBezTo>
                  <a:close/>
                  <a:moveTo>
                    <a:pt x="568" y="490"/>
                  </a:moveTo>
                  <a:cubicBezTo>
                    <a:pt x="568" y="460"/>
                    <a:pt x="592" y="436"/>
                    <a:pt x="622" y="436"/>
                  </a:cubicBezTo>
                  <a:cubicBezTo>
                    <a:pt x="651" y="436"/>
                    <a:pt x="676" y="460"/>
                    <a:pt x="676" y="490"/>
                  </a:cubicBezTo>
                  <a:cubicBezTo>
                    <a:pt x="676" y="519"/>
                    <a:pt x="651" y="544"/>
                    <a:pt x="622" y="544"/>
                  </a:cubicBezTo>
                  <a:cubicBezTo>
                    <a:pt x="592" y="544"/>
                    <a:pt x="568" y="519"/>
                    <a:pt x="568" y="490"/>
                  </a:cubicBezTo>
                  <a:close/>
                </a:path>
              </a:pathLst>
            </a:custGeom>
            <a:solidFill>
              <a:srgbClr val="464E5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60" name="Rectangle 59"/>
            <p:cNvSpPr/>
            <p:nvPr/>
          </p:nvSpPr>
          <p:spPr>
            <a:xfrm>
              <a:off x="86505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392" y="664"/>
                  </a:moveTo>
                  <a:lnTo>
                    <a:pt x="608" y="664"/>
                  </a:lnTo>
                </a:path>
              </a:pathLst>
            </a:custGeom>
            <a:noFill/>
            <a:ln w="2159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</p:grpSp>
      <p:sp>
        <p:nvSpPr>
          <p:cNvPr id="62" name="TextBox 61"/>
          <p:cNvSpPr txBox="1"/>
          <p:nvPr/>
        </p:nvSpPr>
        <p:spPr>
          <a:xfrm>
            <a:off x="7532643" y="2944368"/>
            <a:ext cx="1776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BF5720"/>
                </a:solidFill>
                <a:latin typeface="Arial"/>
              </a:rPr>
              <a:t>Patient world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32643" y="3127248"/>
            <a:ext cx="1776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 i="0">
                <a:solidFill>
                  <a:srgbClr val="1E242A"/>
                </a:solidFill>
                <a:latin typeface="Arial"/>
              </a:rPr>
              <a:t>Action-conditioned prediction p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θ</a:t>
            </a:r>
            <a:r>
              <a:rPr sz="850" b="0" i="0">
                <a:solidFill>
                  <a:srgbClr val="1E242A"/>
                </a:solidFill>
                <a:latin typeface="Arial"/>
              </a:rPr>
              <a:t>(o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t+1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Δt | H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, a</a:t>
            </a:r>
            <a:r>
              <a:rPr sz="850" b="0" i="0" baseline="-25000">
                <a:solidFill>
                  <a:srgbClr val="1E242A"/>
                </a:solidFill>
                <a:latin typeface="Arial"/>
              </a:rPr>
              <a:t>t</a:t>
            </a:r>
            <a:r>
              <a:rPr sz="850" b="0" i="0">
                <a:solidFill>
                  <a:srgbClr val="1E242A"/>
                </a:solidFill>
                <a:latin typeface="Arial"/>
              </a:rPr>
              <a:t>); simulated patient trajectories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32643" y="3785616"/>
            <a:ext cx="1776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 i="0">
                <a:solidFill>
                  <a:srgbClr val="BF5720"/>
                </a:solidFill>
                <a:latin typeface="Arial"/>
              </a:rPr>
              <a:t>Clinical 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32643" y="3968496"/>
            <a:ext cx="1776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 i="0">
                <a:solidFill>
                  <a:srgbClr val="1E242A"/>
                </a:solidFill>
                <a:latin typeface="Arial"/>
              </a:rPr>
              <a:t>Offline reinforcement learning; retrieval and tool use; conversational patient agents</a:t>
            </a:r>
          </a:p>
        </p:txBody>
      </p:sp>
      <p:sp>
        <p:nvSpPr>
          <p:cNvPr id="66" name="flow"/>
          <p:cNvSpPr/>
          <p:nvPr/>
        </p:nvSpPr>
        <p:spPr>
          <a:xfrm rot="5400000">
            <a:off x="9510124" y="2359152"/>
            <a:ext cx="146304" cy="17373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9827380" y="914400"/>
            <a:ext cx="1836743" cy="2148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27380" y="957376"/>
            <a:ext cx="1836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00" b="0" i="0">
                <a:solidFill>
                  <a:srgbClr val="BF5720"/>
                </a:solidFill>
                <a:latin typeface="Arial"/>
              </a:rPr>
              <a:t>NOT IMPLEMENTED HERE</a:t>
            </a:r>
          </a:p>
        </p:txBody>
      </p:sp>
      <p:sp>
        <p:nvSpPr>
          <p:cNvPr id="69" name="stage-e"/>
          <p:cNvSpPr/>
          <p:nvPr/>
        </p:nvSpPr>
        <p:spPr>
          <a:xfrm>
            <a:off x="9702148" y="1188720"/>
            <a:ext cx="2087209" cy="37124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857596" y="1325880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BF5720"/>
                </a:solidFill>
                <a:latin typeface="Arial"/>
              </a:rPr>
              <a:t>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77052" y="1330452"/>
            <a:ext cx="155685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 i="0">
                <a:solidFill>
                  <a:srgbClr val="1E242A"/>
                </a:solidFill>
                <a:latin typeface="Arial"/>
              </a:rPr>
              <a:t>Evaluation and deployment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596" y="1792224"/>
            <a:ext cx="1776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i="0">
                <a:solidFill>
                  <a:srgbClr val="8A9299"/>
                </a:solidFill>
                <a:latin typeface="Arial"/>
              </a:rPr>
              <a:t>Evidence that a model is safe to act on</a:t>
            </a:r>
          </a:p>
        </p:txBody>
      </p:sp>
      <p:sp>
        <p:nvSpPr>
          <p:cNvPr id="73" name="rule"/>
          <p:cNvSpPr/>
          <p:nvPr/>
        </p:nvSpPr>
        <p:spPr>
          <a:xfrm>
            <a:off x="9857596" y="2103120"/>
            <a:ext cx="1776313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78" name="icon-e"/>
          <p:cNvGrpSpPr/>
          <p:nvPr/>
        </p:nvGrpSpPr>
        <p:grpSpPr>
          <a:xfrm>
            <a:off x="10462288" y="2249424"/>
            <a:ext cx="566928" cy="566928"/>
            <a:chOff x="10462288" y="2249424"/>
            <a:chExt cx="566928" cy="566928"/>
          </a:xfrm>
        </p:grpSpPr>
        <p:sp>
          <p:nvSpPr>
            <p:cNvPr id="74" name="Rectangle 73"/>
            <p:cNvSpPr/>
            <p:nvPr/>
          </p:nvSpPr>
          <p:spPr>
            <a:xfrm>
              <a:off x="104622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70" y="880"/>
                  </a:moveTo>
                  <a:lnTo>
                    <a:pt x="640" y="880"/>
                  </a:lnTo>
                </a:path>
              </a:pathLst>
            </a:custGeom>
            <a:noFill/>
            <a:ln w="17780">
              <a:solidFill>
                <a:srgbClr val="8A9299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75" name="Rectangle 74"/>
            <p:cNvSpPr/>
            <p:nvPr/>
          </p:nvSpPr>
          <p:spPr>
            <a:xfrm>
              <a:off x="104622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100" y="620"/>
                  </a:moveTo>
                  <a:lnTo>
                    <a:pt x="218" y="620"/>
                  </a:lnTo>
                  <a:lnTo>
                    <a:pt x="218" y="862"/>
                  </a:lnTo>
                  <a:lnTo>
                    <a:pt x="100" y="862"/>
                  </a:lnTo>
                  <a:close/>
                  <a:moveTo>
                    <a:pt x="270" y="452"/>
                  </a:moveTo>
                  <a:lnTo>
                    <a:pt x="388" y="452"/>
                  </a:lnTo>
                  <a:lnTo>
                    <a:pt x="388" y="862"/>
                  </a:lnTo>
                  <a:lnTo>
                    <a:pt x="270" y="862"/>
                  </a:lnTo>
                  <a:close/>
                  <a:moveTo>
                    <a:pt x="440" y="700"/>
                  </a:moveTo>
                  <a:lnTo>
                    <a:pt x="558" y="700"/>
                  </a:lnTo>
                  <a:lnTo>
                    <a:pt x="558" y="862"/>
                  </a:lnTo>
                  <a:lnTo>
                    <a:pt x="440" y="862"/>
                  </a:lnTo>
                  <a:close/>
                </a:path>
              </a:pathLst>
            </a:custGeom>
            <a:solidFill>
              <a:srgbClr val="464E5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76" name="Rectangle 75"/>
            <p:cNvSpPr/>
            <p:nvPr/>
          </p:nvSpPr>
          <p:spPr>
            <a:xfrm>
              <a:off x="104622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494" y="372"/>
                  </a:moveTo>
                  <a:cubicBezTo>
                    <a:pt x="494" y="263"/>
                    <a:pt x="581" y="176"/>
                    <a:pt x="690" y="176"/>
                  </a:cubicBezTo>
                  <a:cubicBezTo>
                    <a:pt x="798" y="176"/>
                    <a:pt x="886" y="263"/>
                    <a:pt x="886" y="372"/>
                  </a:cubicBezTo>
                  <a:cubicBezTo>
                    <a:pt x="886" y="480"/>
                    <a:pt x="798" y="568"/>
                    <a:pt x="690" y="568"/>
                  </a:cubicBezTo>
                  <a:cubicBezTo>
                    <a:pt x="581" y="568"/>
                    <a:pt x="494" y="480"/>
                    <a:pt x="494" y="372"/>
                  </a:cubicBezTo>
                  <a:close/>
                </a:path>
              </a:pathLst>
            </a:custGeom>
            <a:noFill/>
            <a:ln w="2540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77" name="Rectangle 76"/>
            <p:cNvSpPr/>
            <p:nvPr/>
          </p:nvSpPr>
          <p:spPr>
            <a:xfrm>
              <a:off x="10462288" y="2249424"/>
              <a:ext cx="566928" cy="566928"/>
            </a:xfrm>
            <a:custGeom>
              <a:avLst/>
              <a:gdLst/>
              <a:ahLst/>
              <a:cxnLst/>
              <a:rect l="0" t="0" r="1000" b="1000"/>
              <a:pathLst>
                <a:path w="1000" h="1000">
                  <a:moveTo>
                    <a:pt x="830" y="512"/>
                  </a:moveTo>
                  <a:lnTo>
                    <a:pt x="938" y="620"/>
                  </a:lnTo>
                </a:path>
              </a:pathLst>
            </a:custGeom>
            <a:noFill/>
            <a:ln w="30480">
              <a:solidFill>
                <a:srgbClr val="464E56"/>
              </a:solidFill>
            </a:ln>
            <a:effectLst/>
          </p:spPr>
          <p:txBody>
            <a:bodyPr rtlCol="0" anchor="ctr"/>
            <a:lstStyle/>
            <a:p/>
          </p:txBody>
        </p:sp>
      </p:grpSp>
      <p:sp>
        <p:nvSpPr>
          <p:cNvPr id="79" name="TextBox 78"/>
          <p:cNvSpPr txBox="1"/>
          <p:nvPr/>
        </p:nvSpPr>
        <p:spPr>
          <a:xfrm>
            <a:off x="9857596" y="2944368"/>
            <a:ext cx="177631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Held-out and prospective validation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Off-policy evaluation under confounding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Leakage, safety and subgroup audits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Clinician-in-the-loop review</a:t>
            </a:r>
          </a:p>
          <a:p>
            <a:pPr>
              <a:lnSpc>
                <a:spcPct val="116000"/>
              </a:lnSpc>
              <a:spcAft>
                <a:spcPts val="450"/>
              </a:spcAft>
            </a:pPr>
            <a:r>
              <a:rPr sz="850" b="1">
                <a:solidFill>
                  <a:srgbClr val="C9A08A"/>
                </a:solidFill>
                <a:latin typeface="Arial"/>
              </a:rPr>
              <a:t>•  </a:t>
            </a:r>
            <a:r>
              <a:rPr sz="850" b="0" i="0">
                <a:solidFill>
                  <a:srgbClr val="1E242A"/>
                </a:solidFill>
                <a:latin typeface="Arial"/>
              </a:rPr>
              <a:t>Site-to-site portability</a:t>
            </a:r>
          </a:p>
        </p:txBody>
      </p:sp>
      <p:cxnSp>
        <p:nvCxnSpPr>
          <p:cNvPr id="80" name="feedback-stem"/>
          <p:cNvCxnSpPr/>
          <p:nvPr/>
        </p:nvCxnSpPr>
        <p:spPr>
          <a:xfrm>
            <a:off x="3770893" y="4901183"/>
            <a:ext cx="0" cy="384048"/>
          </a:xfrm>
          <a:prstGeom prst="line">
            <a:avLst/>
          </a:prstGeom>
          <a:ln w="127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feedback-stem"/>
          <p:cNvCxnSpPr/>
          <p:nvPr/>
        </p:nvCxnSpPr>
        <p:spPr>
          <a:xfrm>
            <a:off x="10745752" y="4901183"/>
            <a:ext cx="0" cy="384048"/>
          </a:xfrm>
          <a:prstGeom prst="line">
            <a:avLst/>
          </a:prstGeom>
          <a:ln w="12700">
            <a:solidFill>
              <a:srgbClr val="D8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feedback"/>
          <p:cNvCxnSpPr/>
          <p:nvPr/>
        </p:nvCxnSpPr>
        <p:spPr>
          <a:xfrm>
            <a:off x="3770893" y="5285231"/>
            <a:ext cx="6974859" cy="0"/>
          </a:xfrm>
          <a:prstGeom prst="line">
            <a:avLst/>
          </a:prstGeom>
          <a:ln w="13970">
            <a:solidFill>
              <a:srgbClr val="8A9299"/>
            </a:solidFill>
            <a:prstDash val="dash"/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770893" y="5047487"/>
            <a:ext cx="69748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464E56"/>
                </a:solidFill>
                <a:latin typeface="Arial"/>
              </a:rPr>
              <a:t>Failures found downstream become new contract checks</a:t>
            </a:r>
          </a:p>
        </p:txBody>
      </p:sp>
      <p:sp>
        <p:nvSpPr>
          <p:cNvPr id="84" name="foundation"/>
          <p:cNvSpPr/>
          <p:nvPr/>
        </p:nvSpPr>
        <p:spPr>
          <a:xfrm>
            <a:off x="402336" y="5614416"/>
            <a:ext cx="11387023" cy="658368"/>
          </a:xfrm>
          <a:prstGeom prst="roundRect">
            <a:avLst>
              <a:gd name="adj" fmla="val 10000"/>
            </a:avLst>
          </a:prstGeom>
          <a:solidFill>
            <a:srgbClr val="EEF5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foundation-accent"/>
          <p:cNvSpPr/>
          <p:nvPr/>
        </p:nvSpPr>
        <p:spPr>
          <a:xfrm>
            <a:off x="402336" y="5614416"/>
            <a:ext cx="41148" cy="658368"/>
          </a:xfrm>
          <a:prstGeom prst="rect">
            <a:avLst/>
          </a:prstGeom>
          <a:solidFill>
            <a:srgbClr val="0D6E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03504" y="573328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0D6E66"/>
                </a:solidFill>
                <a:latin typeface="Arial"/>
              </a:rPr>
              <a:t>What stage b establishes and every stage to its right depends 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" y="594360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464E56"/>
                </a:solidFill>
                <a:latin typeface="Arial"/>
              </a:rPr>
              <a:t>Every downstream claim traces to a source file and row.</a:t>
            </a:r>
          </a:p>
        </p:txBody>
      </p:sp>
      <p:sp>
        <p:nvSpPr>
          <p:cNvPr id="88" name="foundation-Time semantics"/>
          <p:cNvSpPr/>
          <p:nvPr/>
        </p:nvSpPr>
        <p:spPr>
          <a:xfrm>
            <a:off x="5845759" y="5797296"/>
            <a:ext cx="1353312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0160">
            <a:solidFill>
              <a:srgbClr val="C5DBD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845759" y="5870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0D6E66"/>
                </a:solidFill>
                <a:latin typeface="Arial"/>
              </a:rPr>
              <a:t>Time semantics</a:t>
            </a:r>
          </a:p>
        </p:txBody>
      </p:sp>
      <p:sp>
        <p:nvSpPr>
          <p:cNvPr id="90" name="foundation-Action semantics"/>
          <p:cNvSpPr/>
          <p:nvPr/>
        </p:nvSpPr>
        <p:spPr>
          <a:xfrm>
            <a:off x="7308799" y="5797296"/>
            <a:ext cx="1353312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0160">
            <a:solidFill>
              <a:srgbClr val="C5DBD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7308799" y="5870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0D6E66"/>
                </a:solidFill>
                <a:latin typeface="Arial"/>
              </a:rPr>
              <a:t>Action semantics</a:t>
            </a:r>
          </a:p>
        </p:txBody>
      </p:sp>
      <p:sp>
        <p:nvSpPr>
          <p:cNvPr id="92" name="foundation-Identity resolution"/>
          <p:cNvSpPr/>
          <p:nvPr/>
        </p:nvSpPr>
        <p:spPr>
          <a:xfrm>
            <a:off x="8771839" y="5797296"/>
            <a:ext cx="1353312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0160">
            <a:solidFill>
              <a:srgbClr val="C5DBD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771839" y="5870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0D6E66"/>
                </a:solidFill>
                <a:latin typeface="Arial"/>
              </a:rPr>
              <a:t>Identity resolution</a:t>
            </a:r>
          </a:p>
        </p:txBody>
      </p:sp>
      <p:sp>
        <p:nvSpPr>
          <p:cNvPr id="94" name="foundation-Reviewed terminology"/>
          <p:cNvSpPr/>
          <p:nvPr/>
        </p:nvSpPr>
        <p:spPr>
          <a:xfrm>
            <a:off x="10234879" y="5797296"/>
            <a:ext cx="1353312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0160">
            <a:solidFill>
              <a:srgbClr val="C5DBD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10234879" y="58704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 i="0">
                <a:solidFill>
                  <a:srgbClr val="0D6E66"/>
                </a:solidFill>
                <a:latin typeface="Arial"/>
              </a:rPr>
              <a:t>Reviewed terminology</a:t>
            </a:r>
          </a:p>
        </p:txBody>
      </p:sp>
      <p:sp>
        <p:nvSpPr>
          <p:cNvPr id="96" name="legend-key"/>
          <p:cNvSpPr/>
          <p:nvPr/>
        </p:nvSpPr>
        <p:spPr>
          <a:xfrm>
            <a:off x="402336" y="641908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0D6E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85216" y="640994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64E56"/>
                </a:solidFill>
                <a:latin typeface="Arial"/>
              </a:rPr>
              <a:t>Implemented and evaluated in this paper</a:t>
            </a:r>
          </a:p>
        </p:txBody>
      </p:sp>
      <p:sp>
        <p:nvSpPr>
          <p:cNvPr id="98" name="legend-key"/>
          <p:cNvSpPr/>
          <p:nvPr/>
        </p:nvSpPr>
        <p:spPr>
          <a:xfrm>
            <a:off x="3107100" y="641908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F5720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289980" y="640994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64E56"/>
                </a:solidFill>
                <a:latin typeface="Arial"/>
              </a:rPr>
              <a:t>Required downstream component, identified but not implemented here</a:t>
            </a:r>
          </a:p>
        </p:txBody>
      </p:sp>
      <p:sp>
        <p:nvSpPr>
          <p:cNvPr id="100" name="legend-key"/>
          <p:cNvSpPr/>
          <p:nvPr/>
        </p:nvSpPr>
        <p:spPr>
          <a:xfrm>
            <a:off x="7342548" y="641908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7525428" y="640994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464E56"/>
                </a:solidFill>
                <a:latin typeface="Arial"/>
              </a:rPr>
              <a:t>External input to the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